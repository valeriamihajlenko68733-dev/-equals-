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articles/536288/" TargetMode="External"/><Relationship Id="rId2" Type="http://schemas.openxmlformats.org/officeDocument/2006/relationships/hyperlink" Target="https://docs.oracle.com/en/java/javase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3915EC-BC9B-C854-DAA8-C81E4E8F3F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8461" y="3540965"/>
            <a:ext cx="6600935" cy="2268559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Механизмы оптимизации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JVM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4A8474A-DE9F-0381-8203-EFA6D8627F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2588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79C1D3-9E02-756D-3505-8C7BE6B7E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567" y="626930"/>
            <a:ext cx="7950984" cy="1081705"/>
          </a:xfrm>
        </p:spPr>
        <p:txBody>
          <a:bodyPr>
            <a:noAutofit/>
          </a:bodyPr>
          <a:lstStyle/>
          <a:p>
            <a:pPr algn="l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 выполнения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Java-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6E3B46-9AEC-9965-405C-56FB1E6AC3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145" y="1887522"/>
            <a:ext cx="3891960" cy="3997828"/>
          </a:xfrm>
        </p:spPr>
        <p:txBody>
          <a:bodyPr>
            <a:normAutofit lnSpcReduction="10000"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javac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.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(байт-код)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Запуск: интерпретация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Профилирование «горячих» участков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JIT-компиляция в машинный код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Динамическая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деоптимизация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изменении поведения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5" name="Picture 3" descr="A diagram of a code&#10;&#10;AI-generated content may be incorrect.">
            <a:extLst>
              <a:ext uri="{FF2B5EF4-FFF2-40B4-BE49-F238E27FC236}">
                <a16:creationId xmlns:a16="http://schemas.microsoft.com/office/drawing/2014/main" id="{EE0CBF0A-0962-EB1E-F496-9EBB7131091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174" y="2082654"/>
            <a:ext cx="6171205" cy="36075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1168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0AC5D3-4012-38F2-783B-74954EAF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5374" y="703180"/>
            <a:ext cx="7950984" cy="1081705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такое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JIT? 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8B3F31-1166-429F-7F2B-E39C52A3FE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5643" y="1614196"/>
            <a:ext cx="9029248" cy="4435748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JIT-компилятор в Oracle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HotSpot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JVM.</a:t>
            </a:r>
          </a:p>
          <a:p>
            <a:pPr>
              <a:defRPr sz="1800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Горячие точки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spots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наиболее часто выполняемые части кода. Производительность приложения в основном зависит от скорости выполнения этих частей.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Два JIT-компилятора: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– C1 (Client): быстрая компиляция, базовые оптимизации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– C2 (Server): медленная, но глубокая компиляция с мощными оптимизациями.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Многоуровневая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Tiered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компиляция (по умолчанию): C1 → C2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3425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69CD7A-B379-4090-4D54-10F6A8A25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 работы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JIT-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компилятора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810D3B-CC85-A19C-3694-163819003C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7033148" cy="3997828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Профилирование: сбор статистики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Компиляция «горячих» участков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Применение оптимизаций*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Динамическая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деоптимизация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379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AB8E81-8149-D8DB-38B1-8C419FB54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№1: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Инлайнинг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методов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1ACAD6E-1826-0709-A3B7-BBB19436A46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09349" y="2251416"/>
            <a:ext cx="7250879" cy="3963119"/>
          </a:xfrm>
          <a:prstGeom prst="rect">
            <a:avLst/>
          </a:prstGeom>
        </p:spPr>
      </p:pic>
      <p:pic>
        <p:nvPicPr>
          <p:cNvPr id="7" name="Объект 6">
            <a:extLst>
              <a:ext uri="{FF2B5EF4-FFF2-40B4-BE49-F238E27FC236}">
                <a16:creationId xmlns:a16="http://schemas.microsoft.com/office/drawing/2014/main" id="{6EFE0F99-D42A-B4B1-20AB-DA8A685A14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96116" y="1500297"/>
            <a:ext cx="4580802" cy="38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61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D78BE7-DF5E-FD03-8BA5-6D33818E6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Инлайнинг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полиморфизм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4FF690-F3CA-B97D-29CB-5FF3E86FF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7760936" cy="3997828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Полиморфизм влияет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инлайнинг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мономорфные и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биморфные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вызовы методов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можно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инлайнить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мегаморфные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вызовы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нет. </a:t>
            </a:r>
          </a:p>
          <a:p>
            <a:pPr>
              <a:defRPr sz="1800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1 реализация →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monomorphic inline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быстро)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2 реализации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bimorphic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inline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≥3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реализаций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megamorphic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вызов через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медленно)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6B91F6-C60B-869F-1162-72185663439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707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FD91E0-E973-23A0-317B-7A4944894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№2: Устранение мёртвого кода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6B0875-EC7F-D7A9-02AF-E99A6CEAD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85788" y="2052114"/>
            <a:ext cx="2975070" cy="3997829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Игнорируем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неиспользующийся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</a:t>
            </a:r>
          </a:p>
          <a:p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9A74049-73B9-66DC-D0A7-2840260FA55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64907" y="2302746"/>
            <a:ext cx="5915608" cy="399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102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00285-FAD7-ECA3-F311-D8151D214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№3: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Escape-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43736D-AB45-6B43-50FD-13E0E667C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8506" y="1750700"/>
            <a:ext cx="3928188" cy="3997829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Замена объектов скалярными переменными. Если объект не используется вне метода, то он не выделяется в куче.</a:t>
            </a:r>
          </a:p>
          <a:p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7FEF733-6E2E-CA7F-EA26-F91BDDACE2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99592" y="1750700"/>
            <a:ext cx="5934270" cy="422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181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33AB1-5F98-6B5F-63B2-E81C17BC2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№4: Разворачивание циклов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3D19ED-8D17-96C5-9787-8178AD5875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92898" y="2052116"/>
            <a:ext cx="8752114" cy="3997828"/>
          </a:xfrm>
        </p:spPr>
        <p:txBody>
          <a:bodyPr>
            <a:normAutofit fontScale="85000" lnSpcReduction="20000"/>
          </a:bodyPr>
          <a:lstStyle/>
          <a:p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Разворачивание циклов (“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unrolling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 - это метод оптимизации, при котором количество итераций цикла уменьшается за счёт выполнения нескольких шагов за одну итерацию. В результате сокращаются накладные расходы, связанные с управлением циклом, например:</a:t>
            </a:r>
          </a:p>
          <a:p>
            <a:endParaRPr lang="ru-RU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условий выхода из цикла.</a:t>
            </a:r>
          </a:p>
          <a:p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 счётчика итераций.</a:t>
            </a:r>
          </a:p>
          <a:p>
            <a:endParaRPr lang="ru-RU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Уменьшение времени выполнения благодаря снижению количества проверок условий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4D25FD-5530-9E64-895F-9EC21FD164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8322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08988D-7D1E-DD33-B914-18AAC6B49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№5 : сворачивание констант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4C27F1-BB89-13AF-96CC-FC310DFF83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6016112" cy="3997828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выражение состоит только из констант, то оно вычисляется на этапе компиляции, а не во время выполнения. Это кажется очевидным, но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делает это даже для сложных составных выражений, если уверен в их неизменности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FA93C9E-99A9-56DC-0A72-66C073F3F9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8023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45290E-426B-5554-4E70-935DB1854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Другие важные оптимизации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D2CA70-8F56-EAB9-1F2C-D172220C01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38335" y="1763486"/>
            <a:ext cx="9881118" cy="4665306"/>
          </a:xfrm>
        </p:spPr>
        <p:txBody>
          <a:bodyPr>
            <a:normAutofit fontScale="3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49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Устранение проверок границ массива</a:t>
            </a:r>
            <a:b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JIT точно знает, что индекс всегда валиден — проверка </a:t>
            </a:r>
            <a:r>
              <a:rPr lang="ru-RU" sz="4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ArrayIndexOutOfBoundsException</a:t>
            </a:r>
            <a: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убирается.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49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Устранение проверок на </a:t>
            </a:r>
            <a:r>
              <a:rPr lang="ru-RU" sz="49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b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объект гарантированно не </a:t>
            </a:r>
            <a:r>
              <a:rPr lang="ru-RU" sz="4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JVM пропускает лишние проверки.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49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Элиминация блокировок </a:t>
            </a:r>
            <a:r>
              <a:rPr lang="ru-RU" sz="4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(Lock </a:t>
            </a:r>
            <a:r>
              <a:rPr lang="ru-RU" sz="4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Elision</a:t>
            </a:r>
            <a:r>
              <a:rPr lang="ru-RU" sz="4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ru-RU" sz="4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synchronized</a:t>
            </a:r>
            <a: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защищает только локальный объект, JVM может убрать блокировку — ведь конкурентного доступа не будет.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49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ru-RU" sz="49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Pool</a:t>
            </a:r>
            <a:b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Одинаковые строковые литералы хранятся в пуле — экономия памяти и быстрое сравнение.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49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Умная конкатенация строк</a:t>
            </a:r>
            <a:b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простых случаях a + b + c компилируется в один </a:t>
            </a:r>
            <a:r>
              <a:rPr lang="ru-RU" sz="4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StringBuilder</a:t>
            </a:r>
            <a: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 в цикле — каждый + создаёт новый объект, а значит лучше использовать </a:t>
            </a:r>
            <a:r>
              <a:rPr lang="ru-RU" sz="4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StringBuilder</a:t>
            </a:r>
            <a: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вручную.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6287BF-FEBB-9477-948B-F79D2822EB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32500" lnSpcReduction="2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6004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24B664-84F9-A664-1C15-E3940DA90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оптимизации Критичны?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F9235C-F065-DEAE-7B2A-CE1219DC81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4317940" cy="3997828"/>
          </a:xfrm>
        </p:spPr>
        <p:txBody>
          <a:bodyPr/>
          <a:lstStyle/>
          <a:p>
            <a:pPr>
              <a:defRPr sz="1800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Высоконагруженные серверы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Spring, Netty)</a:t>
            </a:r>
          </a:p>
          <a:p>
            <a:pPr>
              <a:defRPr sz="1800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Финтех: расчёты в реальном времени</a:t>
            </a:r>
          </a:p>
          <a:p>
            <a:pPr>
              <a:defRPr sz="1800"/>
            </a:pP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/ ML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(Apache Spark, DL4J)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6AE000-22D6-4D5A-ECB2-AAD38E8BF1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6365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E30064-5BD9-6090-7D17-36500D436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и ограничения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JIT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E72758-02F4-EDB7-9631-CE6DC053A0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6361344" cy="399782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  <a:defRPr sz="1800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Холодный старт — первые секунды медленные</a:t>
            </a:r>
          </a:p>
          <a:p>
            <a:pPr marL="342900" indent="-342900">
              <a:buFont typeface="Arial" panose="020B0604020202020204" pitchFamily="34" charset="0"/>
              <a:buChar char="•"/>
              <a:defRPr sz="1800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Мало памяти → JIT отключён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embedded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  <a:defRPr sz="1800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Непредсказуемая нагрузка →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деоптимизация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0253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B3F7A2-1AF0-4F61-E6FB-91076EAAB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A50A3D-8034-5038-025F-F622E7A26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5657" y="2052116"/>
            <a:ext cx="5691674" cy="3997828"/>
          </a:xfrm>
        </p:spPr>
        <p:txBody>
          <a:bodyPr>
            <a:normAutofit fontScale="92500" lnSpcReduction="10000"/>
          </a:bodyPr>
          <a:lstStyle/>
          <a:p>
            <a:pPr>
              <a:defRPr sz="1800"/>
            </a:pPr>
            <a:r>
              <a:rPr lang="ru-RU" sz="2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Понимание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механизмов JVM и </a:t>
            </a:r>
            <a:r>
              <a:rPr lang="ru-RU" sz="2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написание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кода с учётом этих механизмов приводит к более производительным и устойчивым приложениям. </a:t>
            </a:r>
          </a:p>
          <a:p>
            <a:pPr>
              <a:defRPr sz="1800"/>
            </a:pP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Учитывая особенности оптимизации JVM, возможно создавать ещё более быстрые и надёжные решения.</a:t>
            </a:r>
          </a:p>
          <a:p>
            <a:pPr>
              <a:defRPr sz="1800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JIT 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оптимизацию сложно контролировать, она всегда вмешивается в ваш код. Но нельзя писать плохой код и надеяться, что компилятор сделает всё за вас.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66A818-B0DD-0957-F636-0C779835A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21894" y="2118049"/>
            <a:ext cx="3338964" cy="3931894"/>
          </a:xfrm>
        </p:spPr>
        <p:txBody>
          <a:bodyPr>
            <a:normAutofit fontScale="92500" lnSpcReduction="1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1539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7711B3-4992-10C5-67F5-1EBC7E024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параметров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JVM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FA0B2D-43F7-1C86-86AB-A3521ACDC3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1141" y="2052114"/>
            <a:ext cx="8380605" cy="39978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Аргументы JVM можно разделить на три основные категории: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Стандартные параметры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Нестандартные параметры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-X: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параметры)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Расширенные параметры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-XX: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параметры)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0E9070-33B1-BE05-FD07-58AC1F1084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8185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640FD8-40B2-2496-6E78-786D2DA7B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Компиляция по принципу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Just-in-Time</a:t>
            </a:r>
            <a:br>
              <a:rPr lang="en-US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BC021D-3C50-6A25-FF51-1FF8C2E1F2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3649" y="2052116"/>
            <a:ext cx="8882743" cy="39978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Расширенные возможности JVM для настройки JIT-компиляции:</a:t>
            </a:r>
          </a:p>
          <a:p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XX:CICompilerCount</a:t>
            </a:r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XX:ReservedCodeCacheSize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XX:CompileThreshold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XX:MaxInlineSize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9701AE-4233-91FF-93FA-551181BBAA3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206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6C85F9-A61D-C50C-0665-A68099535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Диагностика и отладка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91EC50-7AF0-417B-7DCB-9AC4C3D43B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1641" y="1670180"/>
            <a:ext cx="9918441" cy="437976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Рассмотрим расширенные возможности JVM, связанные с диагностикой и отладкой</a:t>
            </a:r>
            <a:r>
              <a:rPr lang="en-US" dirty="0"/>
              <a:t>: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-XX:+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HeapDumpOnOutOfMemoryError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XX:HeapDumpPath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=./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logs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-XX:+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PrintCompilation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-XX: +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LogCompilation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-XX:+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ExitOnOutOfMemoryError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-XX:+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UnlockDiagnosticVMOptions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366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8634AE-E3C9-8B36-12C8-3C986237D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7CF79D-2BCF-E5DB-016E-8CA13B6A71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05373" y="2052116"/>
            <a:ext cx="7527671" cy="399782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Официальная документация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Oracle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HotSpot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Virtual Machine Performance Enhancements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https://docs.oracle.com/en/java/javase/</a:t>
            </a:r>
            <a:endParaRPr lang="ru-RU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Статья на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HotSpot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JIT компилятор — устройство, мониторинг и настройка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https://habr.com/ru/articles/536288/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Scott Oaks.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Performance: The Definitive Guide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2nd Edition.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78953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эдисон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{59EEA755-714F-4E71-88B9-35631EF6F506}TF37254b02-f5b5-44b0-803d-e6af9466a02430b15390-63aae61ef10a</Template>
  <TotalTime>33</TotalTime>
  <Words>762</Words>
  <Application>Microsoft Office PowerPoint</Application>
  <PresentationFormat>Широкоэкранный</PresentationFormat>
  <Paragraphs>67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Arial</vt:lpstr>
      <vt:lpstr>MS Shell Dlg 2</vt:lpstr>
      <vt:lpstr>Times New Roman</vt:lpstr>
      <vt:lpstr>Wingdings</vt:lpstr>
      <vt:lpstr>Wingdings 3</vt:lpstr>
      <vt:lpstr>Мэдисон</vt:lpstr>
      <vt:lpstr>Механизмы оптимизации в JVM</vt:lpstr>
      <vt:lpstr>Этапы выполнения Java-программы</vt:lpstr>
      <vt:lpstr>Что такое JIT? </vt:lpstr>
      <vt:lpstr>Этапы работы JIT-компилятора</vt:lpstr>
      <vt:lpstr>Оптимизация №1: Инлайнинг методов</vt:lpstr>
      <vt:lpstr>Инлайнинг и полиморфизм</vt:lpstr>
      <vt:lpstr>Оптимизация №2: Устранение мёртвого кода</vt:lpstr>
      <vt:lpstr>Оптимизация №3: Escape-анализ</vt:lpstr>
      <vt:lpstr>Оптимизация №4: Разворачивание циклов</vt:lpstr>
      <vt:lpstr>Оптимизация №5 : сворачивание констант</vt:lpstr>
      <vt:lpstr>Другие важные оптимизации</vt:lpstr>
      <vt:lpstr>Где оптимизации Критичны?</vt:lpstr>
      <vt:lpstr>Проблемы и ограничения JIT</vt:lpstr>
      <vt:lpstr>Заключение</vt:lpstr>
      <vt:lpstr>Классификация параметров JVM </vt:lpstr>
      <vt:lpstr>Компиляция по принципу Just-in-Time </vt:lpstr>
      <vt:lpstr>Диагностика и отладка </vt:lpstr>
      <vt:lpstr>Источники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Nadya</dc:creator>
  <cp:lastModifiedBy>Nadya</cp:lastModifiedBy>
  <cp:revision>2</cp:revision>
  <dcterms:created xsi:type="dcterms:W3CDTF">2026-03-27T12:42:39Z</dcterms:created>
  <dcterms:modified xsi:type="dcterms:W3CDTF">2026-04-24T11:53:06Z</dcterms:modified>
</cp:coreProperties>
</file>